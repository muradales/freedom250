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86"/>
    <p:restoredTop sz="94668"/>
  </p:normalViewPr>
  <p:slideViewPr>
    <p:cSldViewPr snapToGrid="0">
      <p:cViewPr>
        <p:scale>
          <a:sx n="102" d="100"/>
          <a:sy n="102" d="100"/>
        </p:scale>
        <p:origin x="70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ight-field">
            <a:extLst>
              <a:ext uri="{FF2B5EF4-FFF2-40B4-BE49-F238E27FC236}">
                <a16:creationId xmlns:a16="http://schemas.microsoft.com/office/drawing/2014/main" id="{B29B9859-EC3B-4A24-9905-8464F1093CFD}"/>
              </a:ext>
            </a:extLst>
          </p:cNvPr>
          <p:cNvSpPr>
            <a:spLocks noGrp="1"/>
          </p:cNvSpPr>
          <p:nvPr/>
        </p:nvSpPr>
        <p:spPr>
          <a:xfrm>
            <a:off x="8210550" y="0"/>
            <a:ext cx="3981450" cy="6858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ccent">
            <a:extLst>
              <a:ext uri="{FF2B5EF4-FFF2-40B4-BE49-F238E27FC236}">
                <a16:creationId xmlns:a16="http://schemas.microsoft.com/office/drawing/2014/main" id="{91F3A01C-9F6C-4CF7-BC5B-76290EB47B2A}"/>
              </a:ext>
            </a:extLst>
          </p:cNvPr>
          <p:cNvSpPr>
            <a:spLocks noGrp="1"/>
          </p:cNvSpPr>
          <p:nvPr/>
        </p:nvSpPr>
        <p:spPr>
          <a:xfrm>
            <a:off x="8210550" y="0"/>
            <a:ext cx="247650" cy="68580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BD831502-7159-447A-B337-5AC8FA5C1AAF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FREEDOM250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0BA14B1-B0B2-477C-BAF5-189F590EE4D7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3342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000000"/>
                </a:solidFill>
              </a:defRPr>
            </a:pPr>
            <a:r>
              <a:rPr lang="en-US" sz="3900" b="1" dirty="0">
                <a:solidFill>
                  <a:srgbClr val="000000"/>
                </a:solidFill>
              </a:rPr>
              <a:t>Regulation-verified</a:t>
            </a:r>
            <a:r>
              <a:rPr sz="3900" b="1" dirty="0">
                <a:solidFill>
                  <a:srgbClr val="000000"/>
                </a:solidFill>
              </a:rPr>
              <a:t> loan review can protect public dollars without slowing the economy.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1101D01-0DDC-4BD7-96CC-14AB58B4EA94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6858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555555"/>
                </a:solidFill>
              </a:defRPr>
            </a:pPr>
            <a:r>
              <a:rPr lang="en-US" sz="1800" b="0" dirty="0">
                <a:solidFill>
                  <a:srgbClr val="555555"/>
                </a:solidFill>
              </a:rPr>
              <a:t>The </a:t>
            </a:r>
            <a:r>
              <a:rPr sz="1800" b="0" dirty="0">
                <a:solidFill>
                  <a:srgbClr val="555555"/>
                </a:solidFill>
              </a:rPr>
              <a:t>Freedom250 </a:t>
            </a:r>
            <a:r>
              <a:rPr lang="en-US" dirty="0">
                <a:solidFill>
                  <a:srgbClr val="555555"/>
                </a:solidFill>
              </a:rPr>
              <a:t>POC serves as an SBA reviewer tool: pick a loan record, run eligibility and audit spend checks, and see the exact Title 13 citation for</a:t>
            </a:r>
            <a:r>
              <a:rPr sz="1800" b="0" dirty="0">
                <a:solidFill>
                  <a:srgbClr val="555555"/>
                </a:solidFill>
              </a:rPr>
              <a:t> each finding.</a:t>
            </a:r>
          </a:p>
        </p:txBody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ED29E142-8935-4C12-8140-75D8E25EC4FA}"/>
              </a:ext>
            </a:extLst>
          </p:cNvPr>
          <p:cNvSpPr>
            <a:spLocks noGrp="1"/>
          </p:cNvSpPr>
          <p:nvPr/>
        </p:nvSpPr>
        <p:spPr>
          <a:xfrm>
            <a:off x="8810624" y="1809750"/>
            <a:ext cx="2981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sz="1950" b="1" dirty="0">
                <a:solidFill>
                  <a:srgbClr val="000000"/>
                </a:solidFill>
              </a:rPr>
              <a:t>Benefit to the </a:t>
            </a:r>
            <a:r>
              <a:rPr lang="en-US" sz="1950" b="1" dirty="0">
                <a:solidFill>
                  <a:srgbClr val="000000"/>
                </a:solidFill>
              </a:rPr>
              <a:t>R</a:t>
            </a:r>
            <a:r>
              <a:rPr sz="1950" b="1" dirty="0">
                <a:solidFill>
                  <a:srgbClr val="000000"/>
                </a:solidFill>
              </a:rPr>
              <a:t>epublic</a:t>
            </a:r>
          </a:p>
        </p:txBody>
      </p:sp>
      <p:sp>
        <p:nvSpPr>
          <p:cNvPr id="7" name="marker-260">
            <a:extLst>
              <a:ext uri="{FF2B5EF4-FFF2-40B4-BE49-F238E27FC236}">
                <a16:creationId xmlns:a16="http://schemas.microsoft.com/office/drawing/2014/main" id="{FFF4BBD1-8BEC-4C36-B3D5-249512E264C2}"/>
              </a:ext>
            </a:extLst>
          </p:cNvPr>
          <p:cNvSpPr>
            <a:spLocks noGrp="1"/>
          </p:cNvSpPr>
          <p:nvPr/>
        </p:nvSpPr>
        <p:spPr>
          <a:xfrm>
            <a:off x="8810625" y="2552700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ullet-260">
            <a:extLst>
              <a:ext uri="{FF2B5EF4-FFF2-40B4-BE49-F238E27FC236}">
                <a16:creationId xmlns:a16="http://schemas.microsoft.com/office/drawing/2014/main" id="{A42480D2-6D40-4023-88B5-409E55DD52BF}"/>
              </a:ext>
            </a:extLst>
          </p:cNvPr>
          <p:cNvSpPr>
            <a:spLocks noGrp="1"/>
          </p:cNvSpPr>
          <p:nvPr/>
        </p:nvSpPr>
        <p:spPr>
          <a:xfrm>
            <a:off x="9039225" y="2476500"/>
            <a:ext cx="2438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Less time lost to manual regulation lookup</a:t>
            </a:r>
          </a:p>
        </p:txBody>
      </p:sp>
      <p:sp>
        <p:nvSpPr>
          <p:cNvPr id="9" name="marker-344">
            <a:extLst>
              <a:ext uri="{FF2B5EF4-FFF2-40B4-BE49-F238E27FC236}">
                <a16:creationId xmlns:a16="http://schemas.microsoft.com/office/drawing/2014/main" id="{0C016ECF-D7AB-48D6-8A0C-CE29964A1E20}"/>
              </a:ext>
            </a:extLst>
          </p:cNvPr>
          <p:cNvSpPr>
            <a:spLocks noGrp="1"/>
          </p:cNvSpPr>
          <p:nvPr/>
        </p:nvSpPr>
        <p:spPr>
          <a:xfrm>
            <a:off x="8810625" y="3352800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ullet-344">
            <a:extLst>
              <a:ext uri="{FF2B5EF4-FFF2-40B4-BE49-F238E27FC236}">
                <a16:creationId xmlns:a16="http://schemas.microsoft.com/office/drawing/2014/main" id="{4DDE2DDD-BA74-4DFB-AE21-EEF828FCB4C4}"/>
              </a:ext>
            </a:extLst>
          </p:cNvPr>
          <p:cNvSpPr>
            <a:spLocks noGrp="1"/>
          </p:cNvSpPr>
          <p:nvPr/>
        </p:nvSpPr>
        <p:spPr>
          <a:xfrm>
            <a:off x="9039225" y="3276600"/>
            <a:ext cx="2438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More consistent treatment across borrowers</a:t>
            </a:r>
          </a:p>
        </p:txBody>
      </p:sp>
      <p:sp>
        <p:nvSpPr>
          <p:cNvPr id="11" name="marker-428">
            <a:extLst>
              <a:ext uri="{FF2B5EF4-FFF2-40B4-BE49-F238E27FC236}">
                <a16:creationId xmlns:a16="http://schemas.microsoft.com/office/drawing/2014/main" id="{A67807F4-FD6F-46A9-946A-3A6DD43CFDDB}"/>
              </a:ext>
            </a:extLst>
          </p:cNvPr>
          <p:cNvSpPr>
            <a:spLocks noGrp="1"/>
          </p:cNvSpPr>
          <p:nvPr/>
        </p:nvSpPr>
        <p:spPr>
          <a:xfrm>
            <a:off x="8810625" y="4152900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ullet-428">
            <a:extLst>
              <a:ext uri="{FF2B5EF4-FFF2-40B4-BE49-F238E27FC236}">
                <a16:creationId xmlns:a16="http://schemas.microsoft.com/office/drawing/2014/main" id="{AA177359-02FB-48FC-9118-FE9030AE63EE}"/>
              </a:ext>
            </a:extLst>
          </p:cNvPr>
          <p:cNvSpPr>
            <a:spLocks noGrp="1"/>
          </p:cNvSpPr>
          <p:nvPr/>
        </p:nvSpPr>
        <p:spPr>
          <a:xfrm>
            <a:off x="9039225" y="4076700"/>
            <a:ext cx="2438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Defensible decisions with cited evidence</a:t>
            </a:r>
          </a:p>
        </p:txBody>
      </p:sp>
      <p:sp>
        <p:nvSpPr>
          <p:cNvPr id="13" name="footer-1">
            <a:extLst>
              <a:ext uri="{FF2B5EF4-FFF2-40B4-BE49-F238E27FC236}">
                <a16:creationId xmlns:a16="http://schemas.microsoft.com/office/drawing/2014/main" id="{813C6B8F-7A46-4588-8142-D17FBDB67B5C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661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ection-label">
            <a:extLst>
              <a:ext uri="{FF2B5EF4-FFF2-40B4-BE49-F238E27FC236}">
                <a16:creationId xmlns:a16="http://schemas.microsoft.com/office/drawing/2014/main" id="{59D62F45-5C31-45FD-A23A-400F70ECF32F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PRODUCT FIT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ABC5DC9-AA08-4617-8512-9C7CAC286702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477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 dirty="0">
                <a:solidFill>
                  <a:srgbClr val="000000"/>
                </a:solidFill>
              </a:rPr>
              <a:t>The app turns dense rules and messy records into a </a:t>
            </a:r>
            <a:r>
              <a:rPr lang="en-US" sz="3150" b="1" dirty="0">
                <a:solidFill>
                  <a:srgbClr val="000000"/>
                </a:solidFill>
              </a:rPr>
              <a:t>summarized </a:t>
            </a:r>
            <a:r>
              <a:rPr sz="3150" b="1" dirty="0">
                <a:solidFill>
                  <a:srgbClr val="000000"/>
                </a:solidFill>
              </a:rPr>
              <a:t>case file.</a:t>
            </a:r>
          </a:p>
        </p:txBody>
      </p:sp>
      <p:sp>
        <p:nvSpPr>
          <p:cNvPr id="3" name="context">
            <a:extLst>
              <a:ext uri="{FF2B5EF4-FFF2-40B4-BE49-F238E27FC236}">
                <a16:creationId xmlns:a16="http://schemas.microsoft.com/office/drawing/2014/main" id="{F71125B0-1DFE-41FD-A75B-AD0B4FBCE013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752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sz="1650" b="0" dirty="0">
                <a:solidFill>
                  <a:srgbClr val="555555"/>
                </a:solidFill>
              </a:rPr>
              <a:t>The current shell is a React/</a:t>
            </a:r>
            <a:r>
              <a:rPr sz="1650" b="0" dirty="0" err="1">
                <a:solidFill>
                  <a:srgbClr val="555555"/>
                </a:solidFill>
              </a:rPr>
              <a:t>FastAPI</a:t>
            </a:r>
            <a:r>
              <a:rPr sz="1650" b="0" dirty="0">
                <a:solidFill>
                  <a:srgbClr val="555555"/>
                </a:solidFill>
              </a:rPr>
              <a:t> app. The PRD adds the core workflow: Title 13 section index, fixed compliance checks, LLM judge, structured findings, citation drawer, and built-in evals.</a:t>
            </a:r>
          </a:p>
        </p:txBody>
      </p:sp>
      <p:sp>
        <p:nvSpPr>
          <p:cNvPr id="4" name="process-panel-0">
            <a:extLst>
              <a:ext uri="{FF2B5EF4-FFF2-40B4-BE49-F238E27FC236}">
                <a16:creationId xmlns:a16="http://schemas.microsoft.com/office/drawing/2014/main" id="{9C5806AF-EF0D-4169-8236-31A90FE3AC7A}"/>
              </a:ext>
            </a:extLst>
          </p:cNvPr>
          <p:cNvSpPr>
            <a:spLocks noGrp="1"/>
          </p:cNvSpPr>
          <p:nvPr/>
        </p:nvSpPr>
        <p:spPr>
          <a:xfrm>
            <a:off x="400050" y="3390900"/>
            <a:ext cx="1752600" cy="2020344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ocess-step-0">
            <a:extLst>
              <a:ext uri="{FF2B5EF4-FFF2-40B4-BE49-F238E27FC236}">
                <a16:creationId xmlns:a16="http://schemas.microsoft.com/office/drawing/2014/main" id="{F4E50982-FEF3-4F4B-8D7D-A20DA4FC7316}"/>
              </a:ext>
            </a:extLst>
          </p:cNvPr>
          <p:cNvSpPr>
            <a:spLocks noGrp="1"/>
          </p:cNvSpPr>
          <p:nvPr/>
        </p:nvSpPr>
        <p:spPr>
          <a:xfrm>
            <a:off x="400050" y="3390900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6" name="process-title-0">
            <a:extLst>
              <a:ext uri="{FF2B5EF4-FFF2-40B4-BE49-F238E27FC236}">
                <a16:creationId xmlns:a16="http://schemas.microsoft.com/office/drawing/2014/main" id="{B6B3434C-5855-4099-B13D-BFC8D0B3C573}"/>
              </a:ext>
            </a:extLst>
          </p:cNvPr>
          <p:cNvSpPr>
            <a:spLocks noGrp="1"/>
          </p:cNvSpPr>
          <p:nvPr/>
        </p:nvSpPr>
        <p:spPr>
          <a:xfrm>
            <a:off x="400050" y="3419475"/>
            <a:ext cx="1778306" cy="19849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lang="en-US" b="1" dirty="0">
                <a:solidFill>
                  <a:srgbClr val="000000"/>
                </a:solidFill>
              </a:rPr>
              <a:t>Review Applications and Financial Records </a:t>
            </a:r>
            <a:endParaRPr sz="1800" b="1" dirty="0">
              <a:solidFill>
                <a:srgbClr val="000000"/>
              </a:solidFill>
            </a:endParaRPr>
          </a:p>
        </p:txBody>
      </p:sp>
      <p:sp>
        <p:nvSpPr>
          <p:cNvPr id="7" name="process-body-0">
            <a:extLst>
              <a:ext uri="{FF2B5EF4-FFF2-40B4-BE49-F238E27FC236}">
                <a16:creationId xmlns:a16="http://schemas.microsoft.com/office/drawing/2014/main" id="{88ADB5DA-E9DA-40BE-9830-3D3FB35C4EB1}"/>
              </a:ext>
            </a:extLst>
          </p:cNvPr>
          <p:cNvSpPr>
            <a:spLocks noGrp="1"/>
          </p:cNvSpPr>
          <p:nvPr/>
        </p:nvSpPr>
        <p:spPr>
          <a:xfrm>
            <a:off x="571500" y="4533900"/>
            <a:ext cx="1409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endParaRPr sz="1200" b="0" dirty="0">
              <a:solidFill>
                <a:srgbClr val="555555"/>
              </a:solidFill>
            </a:endParaRPr>
          </a:p>
        </p:txBody>
      </p:sp>
      <p:sp>
        <p:nvSpPr>
          <p:cNvPr id="8" name="connector-0">
            <a:extLst>
              <a:ext uri="{FF2B5EF4-FFF2-40B4-BE49-F238E27FC236}">
                <a16:creationId xmlns:a16="http://schemas.microsoft.com/office/drawing/2014/main" id="{8B3CDB45-58CB-42DE-AAA8-862CCC592BDA}"/>
              </a:ext>
            </a:extLst>
          </p:cNvPr>
          <p:cNvSpPr>
            <a:spLocks noGrp="1"/>
          </p:cNvSpPr>
          <p:nvPr/>
        </p:nvSpPr>
        <p:spPr>
          <a:xfrm>
            <a:off x="2324100" y="4219575"/>
            <a:ext cx="3619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rocess-panel-1">
            <a:extLst>
              <a:ext uri="{FF2B5EF4-FFF2-40B4-BE49-F238E27FC236}">
                <a16:creationId xmlns:a16="http://schemas.microsoft.com/office/drawing/2014/main" id="{7FEA47DD-9729-4C88-8398-AF3FE7EA04FE}"/>
              </a:ext>
            </a:extLst>
          </p:cNvPr>
          <p:cNvSpPr>
            <a:spLocks noGrp="1"/>
          </p:cNvSpPr>
          <p:nvPr/>
        </p:nvSpPr>
        <p:spPr>
          <a:xfrm>
            <a:off x="2838450" y="3390900"/>
            <a:ext cx="1704975" cy="2020344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rocess-step-1">
            <a:extLst>
              <a:ext uri="{FF2B5EF4-FFF2-40B4-BE49-F238E27FC236}">
                <a16:creationId xmlns:a16="http://schemas.microsoft.com/office/drawing/2014/main" id="{518900FB-32DB-4B1F-8E79-D713E6030083}"/>
              </a:ext>
            </a:extLst>
          </p:cNvPr>
          <p:cNvSpPr>
            <a:spLocks noGrp="1"/>
          </p:cNvSpPr>
          <p:nvPr/>
        </p:nvSpPr>
        <p:spPr>
          <a:xfrm>
            <a:off x="2914650" y="3429000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11" name="process-title-1">
            <a:extLst>
              <a:ext uri="{FF2B5EF4-FFF2-40B4-BE49-F238E27FC236}">
                <a16:creationId xmlns:a16="http://schemas.microsoft.com/office/drawing/2014/main" id="{DA568363-3256-4383-9D0D-F9A4AC15AA2D}"/>
              </a:ext>
            </a:extLst>
          </p:cNvPr>
          <p:cNvSpPr>
            <a:spLocks noGrp="1"/>
          </p:cNvSpPr>
          <p:nvPr/>
        </p:nvSpPr>
        <p:spPr>
          <a:xfrm>
            <a:off x="2826056" y="3386138"/>
            <a:ext cx="1704975" cy="2018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lang="en-US" sz="1800" b="1" dirty="0">
                <a:solidFill>
                  <a:srgbClr val="000000"/>
                </a:solidFill>
              </a:rPr>
              <a:t>Audit Business Records against SBA Regulations</a:t>
            </a:r>
            <a:endParaRPr sz="1800" b="1" dirty="0">
              <a:solidFill>
                <a:srgbClr val="000000"/>
              </a:solidFill>
            </a:endParaRPr>
          </a:p>
        </p:txBody>
      </p:sp>
      <p:sp>
        <p:nvSpPr>
          <p:cNvPr id="12" name="process-body-1">
            <a:extLst>
              <a:ext uri="{FF2B5EF4-FFF2-40B4-BE49-F238E27FC236}">
                <a16:creationId xmlns:a16="http://schemas.microsoft.com/office/drawing/2014/main" id="{314F6337-D7D7-434B-9532-D94234F7C2D7}"/>
              </a:ext>
            </a:extLst>
          </p:cNvPr>
          <p:cNvSpPr>
            <a:spLocks noGrp="1"/>
          </p:cNvSpPr>
          <p:nvPr/>
        </p:nvSpPr>
        <p:spPr>
          <a:xfrm>
            <a:off x="3009900" y="4533900"/>
            <a:ext cx="1409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endParaRPr sz="1200" b="0" dirty="0">
              <a:solidFill>
                <a:srgbClr val="555555"/>
              </a:solidFill>
            </a:endParaRPr>
          </a:p>
        </p:txBody>
      </p:sp>
      <p:sp>
        <p:nvSpPr>
          <p:cNvPr id="13" name="connector-1">
            <a:extLst>
              <a:ext uri="{FF2B5EF4-FFF2-40B4-BE49-F238E27FC236}">
                <a16:creationId xmlns:a16="http://schemas.microsoft.com/office/drawing/2014/main" id="{4F9E581B-E6EF-4A4F-9CAF-8AA9C4939F37}"/>
              </a:ext>
            </a:extLst>
          </p:cNvPr>
          <p:cNvSpPr>
            <a:spLocks noGrp="1"/>
          </p:cNvSpPr>
          <p:nvPr/>
        </p:nvSpPr>
        <p:spPr>
          <a:xfrm>
            <a:off x="4762500" y="4219575"/>
            <a:ext cx="3619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process-panel-2">
            <a:extLst>
              <a:ext uri="{FF2B5EF4-FFF2-40B4-BE49-F238E27FC236}">
                <a16:creationId xmlns:a16="http://schemas.microsoft.com/office/drawing/2014/main" id="{49DE7E3D-D692-4C29-968E-67DD08F698CF}"/>
              </a:ext>
            </a:extLst>
          </p:cNvPr>
          <p:cNvSpPr>
            <a:spLocks noGrp="1"/>
          </p:cNvSpPr>
          <p:nvPr/>
        </p:nvSpPr>
        <p:spPr>
          <a:xfrm>
            <a:off x="5276850" y="3390900"/>
            <a:ext cx="1714500" cy="2018256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process-step-2">
            <a:extLst>
              <a:ext uri="{FF2B5EF4-FFF2-40B4-BE49-F238E27FC236}">
                <a16:creationId xmlns:a16="http://schemas.microsoft.com/office/drawing/2014/main" id="{D858ED9C-2F99-4710-AEF0-DD4C47BAA4A5}"/>
              </a:ext>
            </a:extLst>
          </p:cNvPr>
          <p:cNvSpPr>
            <a:spLocks noGrp="1"/>
          </p:cNvSpPr>
          <p:nvPr/>
        </p:nvSpPr>
        <p:spPr>
          <a:xfrm>
            <a:off x="5276850" y="3386138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rPr sz="1800" b="1" dirty="0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6" name="process-title-2">
            <a:extLst>
              <a:ext uri="{FF2B5EF4-FFF2-40B4-BE49-F238E27FC236}">
                <a16:creationId xmlns:a16="http://schemas.microsoft.com/office/drawing/2014/main" id="{00EC94F0-4172-493C-A7DD-E98AB7961F03}"/>
              </a:ext>
            </a:extLst>
          </p:cNvPr>
          <p:cNvSpPr>
            <a:spLocks noGrp="1"/>
          </p:cNvSpPr>
          <p:nvPr/>
        </p:nvSpPr>
        <p:spPr>
          <a:xfrm>
            <a:off x="5276849" y="3419475"/>
            <a:ext cx="1736421" cy="2018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lang="en-US" sz="1800" b="1" dirty="0">
                <a:solidFill>
                  <a:srgbClr val="000000"/>
                </a:solidFill>
              </a:rPr>
              <a:t>Flag Potential Fraud</a:t>
            </a:r>
            <a:endParaRPr sz="1800" b="1" dirty="0">
              <a:solidFill>
                <a:srgbClr val="000000"/>
              </a:solidFill>
            </a:endParaRPr>
          </a:p>
        </p:txBody>
      </p:sp>
      <p:sp>
        <p:nvSpPr>
          <p:cNvPr id="17" name="process-body-2">
            <a:extLst>
              <a:ext uri="{FF2B5EF4-FFF2-40B4-BE49-F238E27FC236}">
                <a16:creationId xmlns:a16="http://schemas.microsoft.com/office/drawing/2014/main" id="{A753B501-DC2F-4264-ABB8-55839B3D42E6}"/>
              </a:ext>
            </a:extLst>
          </p:cNvPr>
          <p:cNvSpPr>
            <a:spLocks noGrp="1"/>
          </p:cNvSpPr>
          <p:nvPr/>
        </p:nvSpPr>
        <p:spPr>
          <a:xfrm>
            <a:off x="5448300" y="4533900"/>
            <a:ext cx="1409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endParaRPr sz="1200" b="0" dirty="0">
              <a:solidFill>
                <a:srgbClr val="555555"/>
              </a:solidFill>
            </a:endParaRPr>
          </a:p>
        </p:txBody>
      </p:sp>
      <p:sp>
        <p:nvSpPr>
          <p:cNvPr id="18" name="connector-2">
            <a:extLst>
              <a:ext uri="{FF2B5EF4-FFF2-40B4-BE49-F238E27FC236}">
                <a16:creationId xmlns:a16="http://schemas.microsoft.com/office/drawing/2014/main" id="{59F603BB-92D8-42A2-A93E-42759D9367A3}"/>
              </a:ext>
            </a:extLst>
          </p:cNvPr>
          <p:cNvSpPr>
            <a:spLocks noGrp="1"/>
          </p:cNvSpPr>
          <p:nvPr/>
        </p:nvSpPr>
        <p:spPr>
          <a:xfrm>
            <a:off x="7200900" y="4219575"/>
            <a:ext cx="3619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cess-panel-3">
            <a:extLst>
              <a:ext uri="{FF2B5EF4-FFF2-40B4-BE49-F238E27FC236}">
                <a16:creationId xmlns:a16="http://schemas.microsoft.com/office/drawing/2014/main" id="{47EDA6F4-4743-44D9-A561-20A9A151A5CB}"/>
              </a:ext>
            </a:extLst>
          </p:cNvPr>
          <p:cNvSpPr>
            <a:spLocks noGrp="1"/>
          </p:cNvSpPr>
          <p:nvPr/>
        </p:nvSpPr>
        <p:spPr>
          <a:xfrm>
            <a:off x="7746694" y="3390899"/>
            <a:ext cx="1721156" cy="2046831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process-step-3">
            <a:extLst>
              <a:ext uri="{FF2B5EF4-FFF2-40B4-BE49-F238E27FC236}">
                <a16:creationId xmlns:a16="http://schemas.microsoft.com/office/drawing/2014/main" id="{0BFEFC50-F76F-48D4-BDE1-6B25E39D9DF5}"/>
              </a:ext>
            </a:extLst>
          </p:cNvPr>
          <p:cNvSpPr>
            <a:spLocks noGrp="1"/>
          </p:cNvSpPr>
          <p:nvPr/>
        </p:nvSpPr>
        <p:spPr>
          <a:xfrm>
            <a:off x="7737171" y="3402904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21" name="process-title-3">
            <a:extLst>
              <a:ext uri="{FF2B5EF4-FFF2-40B4-BE49-F238E27FC236}">
                <a16:creationId xmlns:a16="http://schemas.microsoft.com/office/drawing/2014/main" id="{BEDC02C4-3B8B-4099-8D1E-870727B279BD}"/>
              </a:ext>
            </a:extLst>
          </p:cNvPr>
          <p:cNvSpPr>
            <a:spLocks noGrp="1"/>
          </p:cNvSpPr>
          <p:nvPr/>
        </p:nvSpPr>
        <p:spPr>
          <a:xfrm>
            <a:off x="7715250" y="3386138"/>
            <a:ext cx="1790700" cy="2018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lang="en-US" sz="1800" b="1" dirty="0">
                <a:solidFill>
                  <a:srgbClr val="000000"/>
                </a:solidFill>
              </a:rPr>
              <a:t>Provide Findings</a:t>
            </a:r>
            <a:endParaRPr sz="1800" b="1" dirty="0">
              <a:solidFill>
                <a:srgbClr val="000000"/>
              </a:solidFill>
            </a:endParaRPr>
          </a:p>
        </p:txBody>
      </p:sp>
      <p:sp>
        <p:nvSpPr>
          <p:cNvPr id="22" name="process-body-3">
            <a:extLst>
              <a:ext uri="{FF2B5EF4-FFF2-40B4-BE49-F238E27FC236}">
                <a16:creationId xmlns:a16="http://schemas.microsoft.com/office/drawing/2014/main" id="{156C8E49-336E-4383-84C5-5224EC071CC9}"/>
              </a:ext>
            </a:extLst>
          </p:cNvPr>
          <p:cNvSpPr>
            <a:spLocks noGrp="1"/>
          </p:cNvSpPr>
          <p:nvPr/>
        </p:nvSpPr>
        <p:spPr>
          <a:xfrm>
            <a:off x="7886700" y="4533900"/>
            <a:ext cx="1409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endParaRPr sz="1200" b="0" dirty="0">
              <a:solidFill>
                <a:srgbClr val="555555"/>
              </a:solidFill>
            </a:endParaRPr>
          </a:p>
        </p:txBody>
      </p:sp>
      <p:sp>
        <p:nvSpPr>
          <p:cNvPr id="23" name="connector-3">
            <a:extLst>
              <a:ext uri="{FF2B5EF4-FFF2-40B4-BE49-F238E27FC236}">
                <a16:creationId xmlns:a16="http://schemas.microsoft.com/office/drawing/2014/main" id="{6E47ACCB-FD31-4359-B22E-AE5998CDCD59}"/>
              </a:ext>
            </a:extLst>
          </p:cNvPr>
          <p:cNvSpPr>
            <a:spLocks noGrp="1"/>
          </p:cNvSpPr>
          <p:nvPr/>
        </p:nvSpPr>
        <p:spPr>
          <a:xfrm>
            <a:off x="9639300" y="4219575"/>
            <a:ext cx="3619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process-panel-4">
            <a:extLst>
              <a:ext uri="{FF2B5EF4-FFF2-40B4-BE49-F238E27FC236}">
                <a16:creationId xmlns:a16="http://schemas.microsoft.com/office/drawing/2014/main" id="{EC9379EE-0E79-4936-BC57-CF86A7B4C6BB}"/>
              </a:ext>
            </a:extLst>
          </p:cNvPr>
          <p:cNvSpPr>
            <a:spLocks noGrp="1"/>
          </p:cNvSpPr>
          <p:nvPr/>
        </p:nvSpPr>
        <p:spPr>
          <a:xfrm>
            <a:off x="10115550" y="3390900"/>
            <a:ext cx="1790700" cy="204683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process-step-4">
            <a:extLst>
              <a:ext uri="{FF2B5EF4-FFF2-40B4-BE49-F238E27FC236}">
                <a16:creationId xmlns:a16="http://schemas.microsoft.com/office/drawing/2014/main" id="{810C12C1-CEEB-402B-92D6-526F28F5F947}"/>
              </a:ext>
            </a:extLst>
          </p:cNvPr>
          <p:cNvSpPr>
            <a:spLocks noGrp="1"/>
          </p:cNvSpPr>
          <p:nvPr/>
        </p:nvSpPr>
        <p:spPr>
          <a:xfrm>
            <a:off x="10115550" y="3402904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</a:rPr>
              <a:t>05</a:t>
            </a:r>
          </a:p>
        </p:txBody>
      </p:sp>
      <p:sp>
        <p:nvSpPr>
          <p:cNvPr id="26" name="process-title-4">
            <a:extLst>
              <a:ext uri="{FF2B5EF4-FFF2-40B4-BE49-F238E27FC236}">
                <a16:creationId xmlns:a16="http://schemas.microsoft.com/office/drawing/2014/main" id="{44B0A42B-B192-4E55-9E92-CC4C2FC7E46D}"/>
              </a:ext>
            </a:extLst>
          </p:cNvPr>
          <p:cNvSpPr>
            <a:spLocks noGrp="1"/>
          </p:cNvSpPr>
          <p:nvPr/>
        </p:nvSpPr>
        <p:spPr>
          <a:xfrm>
            <a:off x="10153650" y="3429000"/>
            <a:ext cx="1752600" cy="19753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lang="en-US" sz="1800" b="1" dirty="0">
                <a:solidFill>
                  <a:srgbClr val="000000"/>
                </a:solidFill>
              </a:rPr>
              <a:t>Human-in-the-Loop Review</a:t>
            </a:r>
            <a:endParaRPr sz="1800" b="1" dirty="0">
              <a:solidFill>
                <a:srgbClr val="000000"/>
              </a:solidFill>
            </a:endParaRPr>
          </a:p>
        </p:txBody>
      </p:sp>
      <p:sp>
        <p:nvSpPr>
          <p:cNvPr id="27" name="process-body-4">
            <a:extLst>
              <a:ext uri="{FF2B5EF4-FFF2-40B4-BE49-F238E27FC236}">
                <a16:creationId xmlns:a16="http://schemas.microsoft.com/office/drawing/2014/main" id="{6813FDD4-1CAE-404B-AA0F-B6AC2AC4F158}"/>
              </a:ext>
            </a:extLst>
          </p:cNvPr>
          <p:cNvSpPr>
            <a:spLocks noGrp="1"/>
          </p:cNvSpPr>
          <p:nvPr/>
        </p:nvSpPr>
        <p:spPr>
          <a:xfrm>
            <a:off x="10153650" y="3402904"/>
            <a:ext cx="1752600" cy="2001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endParaRPr sz="1200" b="0" dirty="0">
              <a:solidFill>
                <a:srgbClr val="555555"/>
              </a:solidFill>
            </a:endParaRPr>
          </a:p>
        </p:txBody>
      </p:sp>
      <p:sp>
        <p:nvSpPr>
          <p:cNvPr id="28" name="footer-note">
            <a:extLst>
              <a:ext uri="{FF2B5EF4-FFF2-40B4-BE49-F238E27FC236}">
                <a16:creationId xmlns:a16="http://schemas.microsoft.com/office/drawing/2014/main" id="{4263163A-CC7C-4DB5-A581-0D9600C2E8F6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endParaRPr sz="1575" b="0" dirty="0">
              <a:solidFill>
                <a:srgbClr val="000000"/>
              </a:solidFill>
            </a:endParaRPr>
          </a:p>
        </p:txBody>
      </p:sp>
      <p:sp>
        <p:nvSpPr>
          <p:cNvPr id="29" name="footer-2">
            <a:extLst>
              <a:ext uri="{FF2B5EF4-FFF2-40B4-BE49-F238E27FC236}">
                <a16:creationId xmlns:a16="http://schemas.microsoft.com/office/drawing/2014/main" id="{25FCD882-A7D8-4C02-B74D-D943AB49F072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5318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ection-label">
            <a:extLst>
              <a:ext uri="{FF2B5EF4-FFF2-40B4-BE49-F238E27FC236}">
                <a16:creationId xmlns:a16="http://schemas.microsoft.com/office/drawing/2014/main" id="{3A67F72B-19E2-459C-A887-19554E5129FC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EXPANSION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FD2A52C-5C94-4C20-A057-269F128D0FD0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000000"/>
                </a:solidFill>
              </a:defRPr>
            </a:pPr>
            <a:r>
              <a:rPr sz="3075" b="1">
                <a:solidFill>
                  <a:srgbClr val="000000"/>
                </a:solidFill>
              </a:rPr>
              <a:t>The same pattern can help other agencies review rules-bound spending.</a:t>
            </a:r>
          </a:p>
        </p:txBody>
      </p:sp>
      <p:sp>
        <p:nvSpPr>
          <p:cNvPr id="3" name="intro">
            <a:extLst>
              <a:ext uri="{FF2B5EF4-FFF2-40B4-BE49-F238E27FC236}">
                <a16:creationId xmlns:a16="http://schemas.microsoft.com/office/drawing/2014/main" id="{58184483-2764-44AE-9958-DAC261F7DCB7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reusable idea is simple: join program rules, submitted records, transaction evidence, and citation-backed findings. SBA is the first use case; oversight-heavy agencies face similar work.</a:t>
            </a:r>
          </a:p>
        </p:txBody>
      </p:sp>
      <p:sp>
        <p:nvSpPr>
          <p:cNvPr id="4" name="row-bg-0">
            <a:extLst>
              <a:ext uri="{FF2B5EF4-FFF2-40B4-BE49-F238E27FC236}">
                <a16:creationId xmlns:a16="http://schemas.microsoft.com/office/drawing/2014/main" id="{CB802960-1EF2-42F2-B5C9-8B0C8275EC90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11391900" cy="514350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ell-0-0">
            <a:extLst>
              <a:ext uri="{FF2B5EF4-FFF2-40B4-BE49-F238E27FC236}">
                <a16:creationId xmlns:a16="http://schemas.microsoft.com/office/drawing/2014/main" id="{2A2FB4D4-DA34-4AE2-A8C8-FDBC3C114927}"/>
              </a:ext>
            </a:extLst>
          </p:cNvPr>
          <p:cNvSpPr>
            <a:spLocks noGrp="1"/>
          </p:cNvSpPr>
          <p:nvPr/>
        </p:nvSpPr>
        <p:spPr>
          <a:xfrm>
            <a:off x="514350" y="2828925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Agency or function</a:t>
            </a:r>
          </a:p>
        </p:txBody>
      </p:sp>
      <p:sp>
        <p:nvSpPr>
          <p:cNvPr id="6" name="cell-0-1">
            <a:extLst>
              <a:ext uri="{FF2B5EF4-FFF2-40B4-BE49-F238E27FC236}">
                <a16:creationId xmlns:a16="http://schemas.microsoft.com/office/drawing/2014/main" id="{92B2F7E6-FD65-4982-90D9-6A7B0E0E89DB}"/>
              </a:ext>
            </a:extLst>
          </p:cNvPr>
          <p:cNvSpPr>
            <a:spLocks noGrp="1"/>
          </p:cNvSpPr>
          <p:nvPr/>
        </p:nvSpPr>
        <p:spPr>
          <a:xfrm>
            <a:off x="3505200" y="2828925"/>
            <a:ext cx="2686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Likely review surface</a:t>
            </a:r>
          </a:p>
        </p:txBody>
      </p:sp>
      <p:sp>
        <p:nvSpPr>
          <p:cNvPr id="7" name="cell-0-2">
            <a:extLst>
              <a:ext uri="{FF2B5EF4-FFF2-40B4-BE49-F238E27FC236}">
                <a16:creationId xmlns:a16="http://schemas.microsoft.com/office/drawing/2014/main" id="{12326C5A-EEE4-4C7F-87A1-0F4337EC8F3B}"/>
              </a:ext>
            </a:extLst>
          </p:cNvPr>
          <p:cNvSpPr>
            <a:spLocks noGrp="1"/>
          </p:cNvSpPr>
          <p:nvPr/>
        </p:nvSpPr>
        <p:spPr>
          <a:xfrm>
            <a:off x="6781800" y="2828925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How Freedom250 pattern helps</a:t>
            </a:r>
          </a:p>
        </p:txBody>
      </p:sp>
      <p:sp>
        <p:nvSpPr>
          <p:cNvPr id="8" name="row-bg-1">
            <a:extLst>
              <a:ext uri="{FF2B5EF4-FFF2-40B4-BE49-F238E27FC236}">
                <a16:creationId xmlns:a16="http://schemas.microsoft.com/office/drawing/2014/main" id="{7F7B80CE-BA08-4BB2-BEAC-C28878BBC7AF}"/>
              </a:ext>
            </a:extLst>
          </p:cNvPr>
          <p:cNvSpPr>
            <a:spLocks noGrp="1"/>
          </p:cNvSpPr>
          <p:nvPr/>
        </p:nvSpPr>
        <p:spPr>
          <a:xfrm>
            <a:off x="400050" y="3276600"/>
            <a:ext cx="113919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ell-1-0">
            <a:extLst>
              <a:ext uri="{FF2B5EF4-FFF2-40B4-BE49-F238E27FC236}">
                <a16:creationId xmlns:a16="http://schemas.microsoft.com/office/drawing/2014/main" id="{9D18F1BF-A106-4996-A278-1E868817878F}"/>
              </a:ext>
            </a:extLst>
          </p:cNvPr>
          <p:cNvSpPr>
            <a:spLocks noGrp="1"/>
          </p:cNvSpPr>
          <p:nvPr/>
        </p:nvSpPr>
        <p:spPr>
          <a:xfrm>
            <a:off x="514350" y="3381375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FEMA</a:t>
            </a:r>
          </a:p>
        </p:txBody>
      </p:sp>
      <p:sp>
        <p:nvSpPr>
          <p:cNvPr id="10" name="cell-1-1">
            <a:extLst>
              <a:ext uri="{FF2B5EF4-FFF2-40B4-BE49-F238E27FC236}">
                <a16:creationId xmlns:a16="http://schemas.microsoft.com/office/drawing/2014/main" id="{C2960097-1D5E-436B-9CFA-85BCC7812757}"/>
              </a:ext>
            </a:extLst>
          </p:cNvPr>
          <p:cNvSpPr>
            <a:spLocks noGrp="1"/>
          </p:cNvSpPr>
          <p:nvPr/>
        </p:nvSpPr>
        <p:spPr>
          <a:xfrm>
            <a:off x="3505200" y="3381375"/>
            <a:ext cx="2686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 dirty="0">
                <a:solidFill>
                  <a:srgbClr val="000000"/>
                </a:solidFill>
              </a:rPr>
              <a:t>Disaster assistance and grant use</a:t>
            </a:r>
          </a:p>
        </p:txBody>
      </p:sp>
      <p:sp>
        <p:nvSpPr>
          <p:cNvPr id="11" name="cell-1-2">
            <a:extLst>
              <a:ext uri="{FF2B5EF4-FFF2-40B4-BE49-F238E27FC236}">
                <a16:creationId xmlns:a16="http://schemas.microsoft.com/office/drawing/2014/main" id="{5667404C-B158-4D8D-B47D-724C4BCE658D}"/>
              </a:ext>
            </a:extLst>
          </p:cNvPr>
          <p:cNvSpPr>
            <a:spLocks noGrp="1"/>
          </p:cNvSpPr>
          <p:nvPr/>
        </p:nvSpPr>
        <p:spPr>
          <a:xfrm>
            <a:off x="6781800" y="3381375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Flags unsupported expenses and cites eligible-use rules</a:t>
            </a:r>
          </a:p>
        </p:txBody>
      </p:sp>
      <p:sp>
        <p:nvSpPr>
          <p:cNvPr id="12" name="row-bg-2">
            <a:extLst>
              <a:ext uri="{FF2B5EF4-FFF2-40B4-BE49-F238E27FC236}">
                <a16:creationId xmlns:a16="http://schemas.microsoft.com/office/drawing/2014/main" id="{7328D185-0A72-427E-ABEE-F1F06D0E38F2}"/>
              </a:ext>
            </a:extLst>
          </p:cNvPr>
          <p:cNvSpPr>
            <a:spLocks noGrp="1"/>
          </p:cNvSpPr>
          <p:nvPr/>
        </p:nvSpPr>
        <p:spPr>
          <a:xfrm>
            <a:off x="400050" y="3829050"/>
            <a:ext cx="11391900" cy="5143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ell-2-0">
            <a:extLst>
              <a:ext uri="{FF2B5EF4-FFF2-40B4-BE49-F238E27FC236}">
                <a16:creationId xmlns:a16="http://schemas.microsoft.com/office/drawing/2014/main" id="{4D58DCC3-272B-4AFD-AD72-3E87D920ED17}"/>
              </a:ext>
            </a:extLst>
          </p:cNvPr>
          <p:cNvSpPr>
            <a:spLocks noGrp="1"/>
          </p:cNvSpPr>
          <p:nvPr/>
        </p:nvSpPr>
        <p:spPr>
          <a:xfrm>
            <a:off x="514350" y="3933825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USDA</a:t>
            </a:r>
          </a:p>
        </p:txBody>
      </p:sp>
      <p:sp>
        <p:nvSpPr>
          <p:cNvPr id="14" name="cell-2-1">
            <a:extLst>
              <a:ext uri="{FF2B5EF4-FFF2-40B4-BE49-F238E27FC236}">
                <a16:creationId xmlns:a16="http://schemas.microsoft.com/office/drawing/2014/main" id="{D063AD2C-4E94-4D65-ABA9-486DE045A354}"/>
              </a:ext>
            </a:extLst>
          </p:cNvPr>
          <p:cNvSpPr>
            <a:spLocks noGrp="1"/>
          </p:cNvSpPr>
          <p:nvPr/>
        </p:nvSpPr>
        <p:spPr>
          <a:xfrm>
            <a:off x="3505200" y="3933825"/>
            <a:ext cx="2686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 dirty="0">
                <a:solidFill>
                  <a:srgbClr val="000000"/>
                </a:solidFill>
              </a:rPr>
              <a:t>Rural development loans and grants</a:t>
            </a:r>
          </a:p>
        </p:txBody>
      </p:sp>
      <p:sp>
        <p:nvSpPr>
          <p:cNvPr id="15" name="cell-2-2">
            <a:extLst>
              <a:ext uri="{FF2B5EF4-FFF2-40B4-BE49-F238E27FC236}">
                <a16:creationId xmlns:a16="http://schemas.microsoft.com/office/drawing/2014/main" id="{E48248A5-ABBF-4519-8646-CEC9CF5E6959}"/>
              </a:ext>
            </a:extLst>
          </p:cNvPr>
          <p:cNvSpPr>
            <a:spLocks noGrp="1"/>
          </p:cNvSpPr>
          <p:nvPr/>
        </p:nvSpPr>
        <p:spPr>
          <a:xfrm>
            <a:off x="6781800" y="3933825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Checks applicant eligibility and documented use of funds</a:t>
            </a:r>
          </a:p>
        </p:txBody>
      </p:sp>
      <p:sp>
        <p:nvSpPr>
          <p:cNvPr id="16" name="row-bg-3">
            <a:extLst>
              <a:ext uri="{FF2B5EF4-FFF2-40B4-BE49-F238E27FC236}">
                <a16:creationId xmlns:a16="http://schemas.microsoft.com/office/drawing/2014/main" id="{5FB9EA22-E5AE-46BF-84C9-A7D8D0916A93}"/>
              </a:ext>
            </a:extLst>
          </p:cNvPr>
          <p:cNvSpPr>
            <a:spLocks noGrp="1"/>
          </p:cNvSpPr>
          <p:nvPr/>
        </p:nvSpPr>
        <p:spPr>
          <a:xfrm>
            <a:off x="400050" y="4381500"/>
            <a:ext cx="113919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ell-3-0">
            <a:extLst>
              <a:ext uri="{FF2B5EF4-FFF2-40B4-BE49-F238E27FC236}">
                <a16:creationId xmlns:a16="http://schemas.microsoft.com/office/drawing/2014/main" id="{3BA3328D-636B-4A5B-A2DF-D93ECCFCC480}"/>
              </a:ext>
            </a:extLst>
          </p:cNvPr>
          <p:cNvSpPr>
            <a:spLocks noGrp="1"/>
          </p:cNvSpPr>
          <p:nvPr/>
        </p:nvSpPr>
        <p:spPr>
          <a:xfrm>
            <a:off x="514350" y="4486275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HUD</a:t>
            </a:r>
          </a:p>
        </p:txBody>
      </p:sp>
      <p:sp>
        <p:nvSpPr>
          <p:cNvPr id="18" name="cell-3-1">
            <a:extLst>
              <a:ext uri="{FF2B5EF4-FFF2-40B4-BE49-F238E27FC236}">
                <a16:creationId xmlns:a16="http://schemas.microsoft.com/office/drawing/2014/main" id="{96644314-1063-4C97-BBD5-7C26AB26C438}"/>
              </a:ext>
            </a:extLst>
          </p:cNvPr>
          <p:cNvSpPr>
            <a:spLocks noGrp="1"/>
          </p:cNvSpPr>
          <p:nvPr/>
        </p:nvSpPr>
        <p:spPr>
          <a:xfrm>
            <a:off x="3505200" y="4486275"/>
            <a:ext cx="2686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Housing grants and loan programs</a:t>
            </a:r>
          </a:p>
        </p:txBody>
      </p:sp>
      <p:sp>
        <p:nvSpPr>
          <p:cNvPr id="19" name="cell-3-2">
            <a:extLst>
              <a:ext uri="{FF2B5EF4-FFF2-40B4-BE49-F238E27FC236}">
                <a16:creationId xmlns:a16="http://schemas.microsoft.com/office/drawing/2014/main" id="{C528C2B4-55F6-4183-95D6-758AAB47D232}"/>
              </a:ext>
            </a:extLst>
          </p:cNvPr>
          <p:cNvSpPr>
            <a:spLocks noGrp="1"/>
          </p:cNvSpPr>
          <p:nvPr/>
        </p:nvSpPr>
        <p:spPr>
          <a:xfrm>
            <a:off x="6781800" y="4486275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Creates consistent review trails for program compliance</a:t>
            </a:r>
          </a:p>
        </p:txBody>
      </p:sp>
      <p:sp>
        <p:nvSpPr>
          <p:cNvPr id="20" name="row-bg-4">
            <a:extLst>
              <a:ext uri="{FF2B5EF4-FFF2-40B4-BE49-F238E27FC236}">
                <a16:creationId xmlns:a16="http://schemas.microsoft.com/office/drawing/2014/main" id="{7109EEBB-25B0-48FD-9029-DF54D4998FC3}"/>
              </a:ext>
            </a:extLst>
          </p:cNvPr>
          <p:cNvSpPr>
            <a:spLocks noGrp="1"/>
          </p:cNvSpPr>
          <p:nvPr/>
        </p:nvSpPr>
        <p:spPr>
          <a:xfrm>
            <a:off x="400050" y="4933950"/>
            <a:ext cx="11391900" cy="5143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ell-4-0">
            <a:extLst>
              <a:ext uri="{FF2B5EF4-FFF2-40B4-BE49-F238E27FC236}">
                <a16:creationId xmlns:a16="http://schemas.microsoft.com/office/drawing/2014/main" id="{6FC7D2AB-88E7-4D51-AB57-FFCAE62D6371}"/>
              </a:ext>
            </a:extLst>
          </p:cNvPr>
          <p:cNvSpPr>
            <a:spLocks noGrp="1"/>
          </p:cNvSpPr>
          <p:nvPr/>
        </p:nvSpPr>
        <p:spPr>
          <a:xfrm>
            <a:off x="514350" y="5038725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Treasury / IRS</a:t>
            </a:r>
          </a:p>
        </p:txBody>
      </p:sp>
      <p:sp>
        <p:nvSpPr>
          <p:cNvPr id="22" name="cell-4-1">
            <a:extLst>
              <a:ext uri="{FF2B5EF4-FFF2-40B4-BE49-F238E27FC236}">
                <a16:creationId xmlns:a16="http://schemas.microsoft.com/office/drawing/2014/main" id="{DA90221C-EBEB-4047-B293-F0F9BAFBECBF}"/>
              </a:ext>
            </a:extLst>
          </p:cNvPr>
          <p:cNvSpPr>
            <a:spLocks noGrp="1"/>
          </p:cNvSpPr>
          <p:nvPr/>
        </p:nvSpPr>
        <p:spPr>
          <a:xfrm>
            <a:off x="3505200" y="5038725"/>
            <a:ext cx="2686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Relief program and tax-credit controls</a:t>
            </a:r>
          </a:p>
        </p:txBody>
      </p:sp>
      <p:sp>
        <p:nvSpPr>
          <p:cNvPr id="23" name="cell-4-2">
            <a:extLst>
              <a:ext uri="{FF2B5EF4-FFF2-40B4-BE49-F238E27FC236}">
                <a16:creationId xmlns:a16="http://schemas.microsoft.com/office/drawing/2014/main" id="{86CAABC0-2B00-4D82-84FA-9B69FB6E3FEF}"/>
              </a:ext>
            </a:extLst>
          </p:cNvPr>
          <p:cNvSpPr>
            <a:spLocks noGrp="1"/>
          </p:cNvSpPr>
          <p:nvPr/>
        </p:nvSpPr>
        <p:spPr>
          <a:xfrm>
            <a:off x="6781800" y="5038725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Compares submissions, payment records, and rule citations</a:t>
            </a:r>
          </a:p>
        </p:txBody>
      </p:sp>
      <p:sp>
        <p:nvSpPr>
          <p:cNvPr id="24" name="row-bg-5">
            <a:extLst>
              <a:ext uri="{FF2B5EF4-FFF2-40B4-BE49-F238E27FC236}">
                <a16:creationId xmlns:a16="http://schemas.microsoft.com/office/drawing/2014/main" id="{CAD7298B-2885-422A-A0D6-BDD51800A461}"/>
              </a:ext>
            </a:extLst>
          </p:cNvPr>
          <p:cNvSpPr>
            <a:spLocks noGrp="1"/>
          </p:cNvSpPr>
          <p:nvPr/>
        </p:nvSpPr>
        <p:spPr>
          <a:xfrm>
            <a:off x="400050" y="5486400"/>
            <a:ext cx="113919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cell-5-0">
            <a:extLst>
              <a:ext uri="{FF2B5EF4-FFF2-40B4-BE49-F238E27FC236}">
                <a16:creationId xmlns:a16="http://schemas.microsoft.com/office/drawing/2014/main" id="{97FF8D12-AF90-4F75-B5AF-845BE26AF6E8}"/>
              </a:ext>
            </a:extLst>
          </p:cNvPr>
          <p:cNvSpPr>
            <a:spLocks noGrp="1"/>
          </p:cNvSpPr>
          <p:nvPr/>
        </p:nvSpPr>
        <p:spPr>
          <a:xfrm>
            <a:off x="514350" y="5591175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DOJ / Inspectors General</a:t>
            </a:r>
          </a:p>
        </p:txBody>
      </p:sp>
      <p:sp>
        <p:nvSpPr>
          <p:cNvPr id="26" name="cell-5-1">
            <a:extLst>
              <a:ext uri="{FF2B5EF4-FFF2-40B4-BE49-F238E27FC236}">
                <a16:creationId xmlns:a16="http://schemas.microsoft.com/office/drawing/2014/main" id="{2724423D-2130-4240-8462-0B4851E8353B}"/>
              </a:ext>
            </a:extLst>
          </p:cNvPr>
          <p:cNvSpPr>
            <a:spLocks noGrp="1"/>
          </p:cNvSpPr>
          <p:nvPr/>
        </p:nvSpPr>
        <p:spPr>
          <a:xfrm>
            <a:off x="3505200" y="5591175"/>
            <a:ext cx="2686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Investigative triage</a:t>
            </a:r>
          </a:p>
        </p:txBody>
      </p:sp>
      <p:sp>
        <p:nvSpPr>
          <p:cNvPr id="27" name="cell-5-2">
            <a:extLst>
              <a:ext uri="{FF2B5EF4-FFF2-40B4-BE49-F238E27FC236}">
                <a16:creationId xmlns:a16="http://schemas.microsoft.com/office/drawing/2014/main" id="{C533B317-D397-4741-B148-D1AAC48329A9}"/>
              </a:ext>
            </a:extLst>
          </p:cNvPr>
          <p:cNvSpPr>
            <a:spLocks noGrp="1"/>
          </p:cNvSpPr>
          <p:nvPr/>
        </p:nvSpPr>
        <p:spPr>
          <a:xfrm>
            <a:off x="6781800" y="5591175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Prioritizes leads with evidence packets for human review</a:t>
            </a:r>
          </a:p>
        </p:txBody>
      </p:sp>
      <p:sp>
        <p:nvSpPr>
          <p:cNvPr id="28" name="footer-4">
            <a:extLst>
              <a:ext uri="{FF2B5EF4-FFF2-40B4-BE49-F238E27FC236}">
                <a16:creationId xmlns:a16="http://schemas.microsoft.com/office/drawing/2014/main" id="{274F1DAE-AF29-4C74-A4CA-4EABE7C57915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450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label">
            <a:extLst>
              <a:ext uri="{FF2B5EF4-FFF2-40B4-BE49-F238E27FC236}">
                <a16:creationId xmlns:a16="http://schemas.microsoft.com/office/drawing/2014/main" id="{7AB61262-5340-47E5-8209-F1F0F5D4A7EC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LABOR AND TIME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6FFCED3-E19F-435A-B296-7B1ED79D697D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6762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Reviewers spend less time hunting and more time deciding.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FC18DB48-558F-480D-8C09-7538241F82C6}"/>
              </a:ext>
            </a:extLst>
          </p:cNvPr>
          <p:cNvSpPr>
            <a:spLocks noGrp="1"/>
          </p:cNvSpPr>
          <p:nvPr/>
        </p:nvSpPr>
        <p:spPr>
          <a:xfrm>
            <a:off x="400050" y="1905000"/>
            <a:ext cx="685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Freedom250 targets the slowest parts of public loan review: matching facts to dense rules, documenting why a record passes or fails, and separating routine cases from cases that need judgment.</a:t>
            </a:r>
          </a:p>
        </p:txBody>
      </p:sp>
      <p:sp>
        <p:nvSpPr>
          <p:cNvPr id="4" name="metric-0">
            <a:extLst>
              <a:ext uri="{FF2B5EF4-FFF2-40B4-BE49-F238E27FC236}">
                <a16:creationId xmlns:a16="http://schemas.microsoft.com/office/drawing/2014/main" id="{7F7F0566-C06E-4496-8451-DF8C2F8CE5EC}"/>
              </a:ext>
            </a:extLst>
          </p:cNvPr>
          <p:cNvSpPr>
            <a:spLocks noGrp="1"/>
          </p:cNvSpPr>
          <p:nvPr/>
        </p:nvSpPr>
        <p:spPr>
          <a:xfrm>
            <a:off x="400050" y="3390900"/>
            <a:ext cx="2571750" cy="14859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metric-title-0">
            <a:extLst>
              <a:ext uri="{FF2B5EF4-FFF2-40B4-BE49-F238E27FC236}">
                <a16:creationId xmlns:a16="http://schemas.microsoft.com/office/drawing/2014/main" id="{287F1ED6-129B-4191-BC97-5842B26414A5}"/>
              </a:ext>
            </a:extLst>
          </p:cNvPr>
          <p:cNvSpPr>
            <a:spLocks noGrp="1"/>
          </p:cNvSpPr>
          <p:nvPr/>
        </p:nvSpPr>
        <p:spPr>
          <a:xfrm>
            <a:off x="628650" y="36766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Queue</a:t>
            </a:r>
          </a:p>
        </p:txBody>
      </p:sp>
      <p:sp>
        <p:nvSpPr>
          <p:cNvPr id="6" name="metric-body-0">
            <a:extLst>
              <a:ext uri="{FF2B5EF4-FFF2-40B4-BE49-F238E27FC236}">
                <a16:creationId xmlns:a16="http://schemas.microsoft.com/office/drawing/2014/main" id="{3104A147-CFA4-475A-B623-4AF85CA138B6}"/>
              </a:ext>
            </a:extLst>
          </p:cNvPr>
          <p:cNvSpPr>
            <a:spLocks noGrp="1"/>
          </p:cNvSpPr>
          <p:nvPr/>
        </p:nvSpPr>
        <p:spPr>
          <a:xfrm>
            <a:off x="628650" y="4267200"/>
            <a:ext cx="2076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Routine records can move to the front or clear faster.</a:t>
            </a:r>
          </a:p>
        </p:txBody>
      </p:sp>
      <p:sp>
        <p:nvSpPr>
          <p:cNvPr id="7" name="metric-1">
            <a:extLst>
              <a:ext uri="{FF2B5EF4-FFF2-40B4-BE49-F238E27FC236}">
                <a16:creationId xmlns:a16="http://schemas.microsoft.com/office/drawing/2014/main" id="{72C64372-3E0D-4327-BF65-9B01F3EFEF0B}"/>
              </a:ext>
            </a:extLst>
          </p:cNvPr>
          <p:cNvSpPr>
            <a:spLocks noGrp="1"/>
          </p:cNvSpPr>
          <p:nvPr/>
        </p:nvSpPr>
        <p:spPr>
          <a:xfrm>
            <a:off x="3324225" y="3390900"/>
            <a:ext cx="2571750" cy="14859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metric-title-1">
            <a:extLst>
              <a:ext uri="{FF2B5EF4-FFF2-40B4-BE49-F238E27FC236}">
                <a16:creationId xmlns:a16="http://schemas.microsoft.com/office/drawing/2014/main" id="{B4983D93-2D65-4E99-A402-B3C570A00D46}"/>
              </a:ext>
            </a:extLst>
          </p:cNvPr>
          <p:cNvSpPr>
            <a:spLocks noGrp="1"/>
          </p:cNvSpPr>
          <p:nvPr/>
        </p:nvSpPr>
        <p:spPr>
          <a:xfrm>
            <a:off x="3552825" y="36766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Citations</a:t>
            </a:r>
          </a:p>
        </p:txBody>
      </p:sp>
      <p:sp>
        <p:nvSpPr>
          <p:cNvPr id="9" name="metric-body-1">
            <a:extLst>
              <a:ext uri="{FF2B5EF4-FFF2-40B4-BE49-F238E27FC236}">
                <a16:creationId xmlns:a16="http://schemas.microsoft.com/office/drawing/2014/main" id="{6A096101-8765-4540-A538-9EE2CA4D4740}"/>
              </a:ext>
            </a:extLst>
          </p:cNvPr>
          <p:cNvSpPr>
            <a:spLocks noGrp="1"/>
          </p:cNvSpPr>
          <p:nvPr/>
        </p:nvSpPr>
        <p:spPr>
          <a:xfrm>
            <a:off x="3552825" y="4267200"/>
            <a:ext cx="2076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The drawer reduces repeated regulation lookup.</a:t>
            </a:r>
          </a:p>
        </p:txBody>
      </p:sp>
      <p:sp>
        <p:nvSpPr>
          <p:cNvPr id="10" name="metric-2">
            <a:extLst>
              <a:ext uri="{FF2B5EF4-FFF2-40B4-BE49-F238E27FC236}">
                <a16:creationId xmlns:a16="http://schemas.microsoft.com/office/drawing/2014/main" id="{095A5AC7-7411-4BCD-B165-3444B1CD70C3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571750" cy="14859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metric-title-2">
            <a:extLst>
              <a:ext uri="{FF2B5EF4-FFF2-40B4-BE49-F238E27FC236}">
                <a16:creationId xmlns:a16="http://schemas.microsoft.com/office/drawing/2014/main" id="{014F5EA2-B398-4D5A-BE53-F68D5DB66917}"/>
              </a:ext>
            </a:extLst>
          </p:cNvPr>
          <p:cNvSpPr>
            <a:spLocks noGrp="1"/>
          </p:cNvSpPr>
          <p:nvPr/>
        </p:nvSpPr>
        <p:spPr>
          <a:xfrm>
            <a:off x="6477000" y="36766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Evals</a:t>
            </a:r>
          </a:p>
        </p:txBody>
      </p:sp>
      <p:sp>
        <p:nvSpPr>
          <p:cNvPr id="12" name="metric-body-2">
            <a:extLst>
              <a:ext uri="{FF2B5EF4-FFF2-40B4-BE49-F238E27FC236}">
                <a16:creationId xmlns:a16="http://schemas.microsoft.com/office/drawing/2014/main" id="{4D97C0F9-6AEA-4CE7-B578-422B6C2131B1}"/>
              </a:ext>
            </a:extLst>
          </p:cNvPr>
          <p:cNvSpPr>
            <a:spLocks noGrp="1"/>
          </p:cNvSpPr>
          <p:nvPr/>
        </p:nvSpPr>
        <p:spPr>
          <a:xfrm>
            <a:off x="6477000" y="4267200"/>
            <a:ext cx="2076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Ground-truth CSVs create a regression check as prompts improve.</a:t>
            </a:r>
          </a:p>
        </p:txBody>
      </p:sp>
      <p:sp>
        <p:nvSpPr>
          <p:cNvPr id="13" name="metric-3">
            <a:extLst>
              <a:ext uri="{FF2B5EF4-FFF2-40B4-BE49-F238E27FC236}">
                <a16:creationId xmlns:a16="http://schemas.microsoft.com/office/drawing/2014/main" id="{B8AD627F-49C8-49D1-A866-5671C2ED4ADA}"/>
              </a:ext>
            </a:extLst>
          </p:cNvPr>
          <p:cNvSpPr>
            <a:spLocks noGrp="1"/>
          </p:cNvSpPr>
          <p:nvPr/>
        </p:nvSpPr>
        <p:spPr>
          <a:xfrm>
            <a:off x="9172575" y="3390900"/>
            <a:ext cx="2571750" cy="14859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metric-title-3">
            <a:extLst>
              <a:ext uri="{FF2B5EF4-FFF2-40B4-BE49-F238E27FC236}">
                <a16:creationId xmlns:a16="http://schemas.microsoft.com/office/drawing/2014/main" id="{C4C2663C-FD50-4E6E-805C-ED48C552A766}"/>
              </a:ext>
            </a:extLst>
          </p:cNvPr>
          <p:cNvSpPr>
            <a:spLocks noGrp="1"/>
          </p:cNvSpPr>
          <p:nvPr/>
        </p:nvSpPr>
        <p:spPr>
          <a:xfrm>
            <a:off x="9401175" y="36766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Reuse</a:t>
            </a:r>
          </a:p>
        </p:txBody>
      </p:sp>
      <p:sp>
        <p:nvSpPr>
          <p:cNvPr id="15" name="metric-body-3">
            <a:extLst>
              <a:ext uri="{FF2B5EF4-FFF2-40B4-BE49-F238E27FC236}">
                <a16:creationId xmlns:a16="http://schemas.microsoft.com/office/drawing/2014/main" id="{751050C7-659D-461F-885B-B88FE0A6EF34}"/>
              </a:ext>
            </a:extLst>
          </p:cNvPr>
          <p:cNvSpPr>
            <a:spLocks noGrp="1"/>
          </p:cNvSpPr>
          <p:nvPr/>
        </p:nvSpPr>
        <p:spPr>
          <a:xfrm>
            <a:off x="9401175" y="4267200"/>
            <a:ext cx="2076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The same review pattern can support multiple programs.</a:t>
            </a:r>
          </a:p>
        </p:txBody>
      </p:sp>
      <p:sp>
        <p:nvSpPr>
          <p:cNvPr id="16" name="bottom">
            <a:extLst>
              <a:ext uri="{FF2B5EF4-FFF2-40B4-BE49-F238E27FC236}">
                <a16:creationId xmlns:a16="http://schemas.microsoft.com/office/drawing/2014/main" id="{8A57B44D-86DC-4DB0-B254-AEDCA613379F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The result is not fewer humans in the loop. It is fewer hours spent on repetitive sorting, lookup, and drafting before a human makes the accountable call.</a:t>
            </a:r>
          </a:p>
        </p:txBody>
      </p:sp>
      <p:sp>
        <p:nvSpPr>
          <p:cNvPr id="17" name="footer-3">
            <a:extLst>
              <a:ext uri="{FF2B5EF4-FFF2-40B4-BE49-F238E27FC236}">
                <a16:creationId xmlns:a16="http://schemas.microsoft.com/office/drawing/2014/main" id="{4B2FCD88-7AAA-4BA6-95E9-EA28EE642208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6292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op-rule">
            <a:extLst>
              <a:ext uri="{FF2B5EF4-FFF2-40B4-BE49-F238E27FC236}">
                <a16:creationId xmlns:a16="http://schemas.microsoft.com/office/drawing/2014/main" id="{F03B5F93-FF40-4452-84F3-F08599BD1C0A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113919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27233981-B683-44B2-B7A4-4CDFE6F260AB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RECOMMENDATION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832CD00-0305-44B6-A80D-98BA38696EF2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876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Build the demo around public trust: faster review, better evidence, broader reuse.</a:t>
            </a:r>
          </a:p>
        </p:txBody>
      </p:sp>
      <p:sp>
        <p:nvSpPr>
          <p:cNvPr id="4" name="num-0">
            <a:extLst>
              <a:ext uri="{FF2B5EF4-FFF2-40B4-BE49-F238E27FC236}">
                <a16:creationId xmlns:a16="http://schemas.microsoft.com/office/drawing/2014/main" id="{79401495-ED37-44B4-8144-AB7ECF5DE4AD}"/>
              </a:ext>
            </a:extLst>
          </p:cNvPr>
          <p:cNvSpPr>
            <a:spLocks noGrp="1"/>
          </p:cNvSpPr>
          <p:nvPr/>
        </p:nvSpPr>
        <p:spPr>
          <a:xfrm>
            <a:off x="400050" y="3067050"/>
            <a:ext cx="361950" cy="3619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um-text-0">
            <a:extLst>
              <a:ext uri="{FF2B5EF4-FFF2-40B4-BE49-F238E27FC236}">
                <a16:creationId xmlns:a16="http://schemas.microsoft.com/office/drawing/2014/main" id="{5468106B-0001-4C4A-B9B5-19DEAEB659A2}"/>
              </a:ext>
            </a:extLst>
          </p:cNvPr>
          <p:cNvSpPr>
            <a:spLocks noGrp="1"/>
          </p:cNvSpPr>
          <p:nvPr/>
        </p:nvSpPr>
        <p:spPr>
          <a:xfrm>
            <a:off x="495300" y="3114675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next-title-0">
            <a:extLst>
              <a:ext uri="{FF2B5EF4-FFF2-40B4-BE49-F238E27FC236}">
                <a16:creationId xmlns:a16="http://schemas.microsoft.com/office/drawing/2014/main" id="{EE00FFBA-DCA7-41BD-9075-E686719F26C9}"/>
              </a:ext>
            </a:extLst>
          </p:cNvPr>
          <p:cNvSpPr>
            <a:spLocks noGrp="1"/>
          </p:cNvSpPr>
          <p:nvPr/>
        </p:nvSpPr>
        <p:spPr>
          <a:xfrm>
            <a:off x="971550" y="30289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Finish the end-to-end SBA path</a:t>
            </a:r>
          </a:p>
        </p:txBody>
      </p:sp>
      <p:sp>
        <p:nvSpPr>
          <p:cNvPr id="7" name="next-body-0">
            <a:extLst>
              <a:ext uri="{FF2B5EF4-FFF2-40B4-BE49-F238E27FC236}">
                <a16:creationId xmlns:a16="http://schemas.microsoft.com/office/drawing/2014/main" id="{571EEACE-5A5C-4378-9182-840813904327}"/>
              </a:ext>
            </a:extLst>
          </p:cNvPr>
          <p:cNvSpPr>
            <a:spLocks noGrp="1"/>
          </p:cNvSpPr>
          <p:nvPr/>
        </p:nvSpPr>
        <p:spPr>
          <a:xfrm>
            <a:off x="971550" y="33718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Dashboard, detail view, citation drawer, checks, and eval widget.</a:t>
            </a:r>
          </a:p>
        </p:txBody>
      </p:sp>
      <p:sp>
        <p:nvSpPr>
          <p:cNvPr id="8" name="num-1">
            <a:extLst>
              <a:ext uri="{FF2B5EF4-FFF2-40B4-BE49-F238E27FC236}">
                <a16:creationId xmlns:a16="http://schemas.microsoft.com/office/drawing/2014/main" id="{5BBAC57B-FB74-4BA9-ADB3-ABA3656BC526}"/>
              </a:ext>
            </a:extLst>
          </p:cNvPr>
          <p:cNvSpPr>
            <a:spLocks noGrp="1"/>
          </p:cNvSpPr>
          <p:nvPr/>
        </p:nvSpPr>
        <p:spPr>
          <a:xfrm>
            <a:off x="400050" y="3886200"/>
            <a:ext cx="361950" cy="3619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num-text-1">
            <a:extLst>
              <a:ext uri="{FF2B5EF4-FFF2-40B4-BE49-F238E27FC236}">
                <a16:creationId xmlns:a16="http://schemas.microsoft.com/office/drawing/2014/main" id="{51124BCB-5809-484E-AF26-809342A6CB7D}"/>
              </a:ext>
            </a:extLst>
          </p:cNvPr>
          <p:cNvSpPr>
            <a:spLocks noGrp="1"/>
          </p:cNvSpPr>
          <p:nvPr/>
        </p:nvSpPr>
        <p:spPr>
          <a:xfrm>
            <a:off x="495300" y="3933825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next-title-1">
            <a:extLst>
              <a:ext uri="{FF2B5EF4-FFF2-40B4-BE49-F238E27FC236}">
                <a16:creationId xmlns:a16="http://schemas.microsoft.com/office/drawing/2014/main" id="{73F2A561-2C45-428E-B979-1F44D271A7FC}"/>
              </a:ext>
            </a:extLst>
          </p:cNvPr>
          <p:cNvSpPr>
            <a:spLocks noGrp="1"/>
          </p:cNvSpPr>
          <p:nvPr/>
        </p:nvSpPr>
        <p:spPr>
          <a:xfrm>
            <a:off x="971550" y="38481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Measure labor/time savings</a:t>
            </a:r>
          </a:p>
        </p:txBody>
      </p:sp>
      <p:sp>
        <p:nvSpPr>
          <p:cNvPr id="11" name="next-body-1">
            <a:extLst>
              <a:ext uri="{FF2B5EF4-FFF2-40B4-BE49-F238E27FC236}">
                <a16:creationId xmlns:a16="http://schemas.microsoft.com/office/drawing/2014/main" id="{B8255371-2B55-4D53-9BCC-60E2A89F1A8A}"/>
              </a:ext>
            </a:extLst>
          </p:cNvPr>
          <p:cNvSpPr>
            <a:spLocks noGrp="1"/>
          </p:cNvSpPr>
          <p:nvPr/>
        </p:nvSpPr>
        <p:spPr>
          <a:xfrm>
            <a:off x="971550" y="41910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Track review steps removed, citation lookup time, and first-pass triage accuracy.</a:t>
            </a:r>
          </a:p>
        </p:txBody>
      </p:sp>
      <p:sp>
        <p:nvSpPr>
          <p:cNvPr id="12" name="num-2">
            <a:extLst>
              <a:ext uri="{FF2B5EF4-FFF2-40B4-BE49-F238E27FC236}">
                <a16:creationId xmlns:a16="http://schemas.microsoft.com/office/drawing/2014/main" id="{9DBDF950-62EE-4933-AD96-88C8822640C8}"/>
              </a:ext>
            </a:extLst>
          </p:cNvPr>
          <p:cNvSpPr>
            <a:spLocks noGrp="1"/>
          </p:cNvSpPr>
          <p:nvPr/>
        </p:nvSpPr>
        <p:spPr>
          <a:xfrm>
            <a:off x="400050" y="4705350"/>
            <a:ext cx="361950" cy="3619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num-text-2">
            <a:extLst>
              <a:ext uri="{FF2B5EF4-FFF2-40B4-BE49-F238E27FC236}">
                <a16:creationId xmlns:a16="http://schemas.microsoft.com/office/drawing/2014/main" id="{47175C56-9F99-4783-80CA-2025F4B096D7}"/>
              </a:ext>
            </a:extLst>
          </p:cNvPr>
          <p:cNvSpPr>
            <a:spLocks noGrp="1"/>
          </p:cNvSpPr>
          <p:nvPr/>
        </p:nvSpPr>
        <p:spPr>
          <a:xfrm>
            <a:off x="495300" y="4752975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next-title-2">
            <a:extLst>
              <a:ext uri="{FF2B5EF4-FFF2-40B4-BE49-F238E27FC236}">
                <a16:creationId xmlns:a16="http://schemas.microsoft.com/office/drawing/2014/main" id="{B003CC96-06CB-46F8-B704-93EB68063F15}"/>
              </a:ext>
            </a:extLst>
          </p:cNvPr>
          <p:cNvSpPr>
            <a:spLocks noGrp="1"/>
          </p:cNvSpPr>
          <p:nvPr/>
        </p:nvSpPr>
        <p:spPr>
          <a:xfrm>
            <a:off x="971550" y="46672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Prepare for cross-agency pilots</a:t>
            </a:r>
          </a:p>
        </p:txBody>
      </p:sp>
      <p:sp>
        <p:nvSpPr>
          <p:cNvPr id="15" name="next-body-2">
            <a:extLst>
              <a:ext uri="{FF2B5EF4-FFF2-40B4-BE49-F238E27FC236}">
                <a16:creationId xmlns:a16="http://schemas.microsoft.com/office/drawing/2014/main" id="{038C7370-05FE-4055-9A4A-E8038816A2FB}"/>
              </a:ext>
            </a:extLst>
          </p:cNvPr>
          <p:cNvSpPr>
            <a:spLocks noGrp="1"/>
          </p:cNvSpPr>
          <p:nvPr/>
        </p:nvSpPr>
        <p:spPr>
          <a:xfrm>
            <a:off x="971550" y="50101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Keep the rule index, finding schema, and eval harness agency-neutral.</a:t>
            </a:r>
          </a:p>
        </p:txBody>
      </p:sp>
      <p:sp>
        <p:nvSpPr>
          <p:cNvPr id="16" name="right-panel">
            <a:extLst>
              <a:ext uri="{FF2B5EF4-FFF2-40B4-BE49-F238E27FC236}">
                <a16:creationId xmlns:a16="http://schemas.microsoft.com/office/drawing/2014/main" id="{74ACF64E-6C1F-4B73-9072-3A7483945A7E}"/>
              </a:ext>
            </a:extLst>
          </p:cNvPr>
          <p:cNvSpPr>
            <a:spLocks noGrp="1"/>
          </p:cNvSpPr>
          <p:nvPr/>
        </p:nvSpPr>
        <p:spPr>
          <a:xfrm>
            <a:off x="7962900" y="2914650"/>
            <a:ext cx="3257550" cy="2286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ight-head">
            <a:extLst>
              <a:ext uri="{FF2B5EF4-FFF2-40B4-BE49-F238E27FC236}">
                <a16:creationId xmlns:a16="http://schemas.microsoft.com/office/drawing/2014/main" id="{357BD8C6-9736-4693-82E1-7B18753B7531}"/>
              </a:ext>
            </a:extLst>
          </p:cNvPr>
          <p:cNvSpPr>
            <a:spLocks noGrp="1"/>
          </p:cNvSpPr>
          <p:nvPr/>
        </p:nvSpPr>
        <p:spPr>
          <a:xfrm>
            <a:off x="8229600" y="3333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Core message</a:t>
            </a:r>
          </a:p>
        </p:txBody>
      </p:sp>
      <p:sp>
        <p:nvSpPr>
          <p:cNvPr id="18" name="right-copy">
            <a:extLst>
              <a:ext uri="{FF2B5EF4-FFF2-40B4-BE49-F238E27FC236}">
                <a16:creationId xmlns:a16="http://schemas.microsoft.com/office/drawing/2014/main" id="{166BF7B7-7B53-4FC1-8CD6-95E8CFCEF821}"/>
              </a:ext>
            </a:extLst>
          </p:cNvPr>
          <p:cNvSpPr>
            <a:spLocks noGrp="1"/>
          </p:cNvSpPr>
          <p:nvPr/>
        </p:nvSpPr>
        <p:spPr>
          <a:xfrm>
            <a:off x="8229600" y="3810000"/>
            <a:ext cx="2667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Freedom250 can help government protect funds while treating applicants consistently and preserving human accountability.</a:t>
            </a:r>
          </a:p>
        </p:txBody>
      </p:sp>
      <p:sp>
        <p:nvSpPr>
          <p:cNvPr id="19" name="sources">
            <a:extLst>
              <a:ext uri="{FF2B5EF4-FFF2-40B4-BE49-F238E27FC236}">
                <a16:creationId xmlns:a16="http://schemas.microsoft.com/office/drawing/2014/main" id="{D32B8EAE-BCB8-4FC5-B58D-F836C0ACE2B8}"/>
              </a:ext>
            </a:extLst>
          </p:cNvPr>
          <p:cNvSpPr>
            <a:spLocks noGrp="1"/>
          </p:cNvSpPr>
          <p:nvPr/>
        </p:nvSpPr>
        <p:spPr>
          <a:xfrm>
            <a:off x="400050" y="6076950"/>
            <a:ext cx="981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Sources used: Freedom250 PRD; SBA public guidance for 7(a), PPP forgiveness, and EIDL program records/use of funds.</a:t>
            </a:r>
          </a:p>
        </p:txBody>
      </p:sp>
      <p:sp>
        <p:nvSpPr>
          <p:cNvPr id="20" name="footer-5">
            <a:extLst>
              <a:ext uri="{FF2B5EF4-FFF2-40B4-BE49-F238E27FC236}">
                <a16:creationId xmlns:a16="http://schemas.microsoft.com/office/drawing/2014/main" id="{E3DA559B-7D6E-4D71-A665-8EEAAF8FAE69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5796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</Words>
  <Application>Microsoft Macintosh PowerPoint</Application>
  <DocSecurity>0</DocSecurity>
  <PresentationFormat>Widescreen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Francisco Sauceda</cp:lastModifiedBy>
  <cp:revision>1</cp:revision>
  <dcterms:created xsi:type="dcterms:W3CDTF">2026-07-04T02:57:17Z</dcterms:created>
  <dcterms:modified xsi:type="dcterms:W3CDTF">2026-07-04T03:36:36Z</dcterms:modified>
</cp:coreProperties>
</file>